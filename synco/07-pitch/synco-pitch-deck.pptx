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6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synco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0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AI가 기회를 발굴하고, 사람이 신뢰로 연결합니다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474720"/>
            <a:ext cx="18288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보험 설계사 28만 명의 CEO 네트워크를 AI 비즈니스 매칭으로 활성화하는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Pre-Seed 투자 제안서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CCCCCC"/>
                </a:solidFill>
                <a:latin typeface="맑은 고딕"/>
              </a:defRPr>
              <a:lnSpc>
                <a:spcPct val="150000"/>
              </a:lnSpc>
            </a:pPr>
            <a:r>
              <a:t>보험 법인영업으로 구축된</a:t>
            </a:r>
            <a:br/>
            <a:r>
              <a:t>CEO 직통 DB가</a:t>
            </a:r>
            <a:br/>
            <a:r>
              <a:t>보험 계약 후 유휴 자산화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솔루션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9456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CCCCCC"/>
                </a:solidFill>
                <a:latin typeface="맑은 고딕"/>
              </a:defRPr>
              <a:lnSpc>
                <a:spcPct val="150000"/>
              </a:lnSpc>
            </a:pPr>
            <a:r>
              <a:t>무료 AI CRM으로 설계사 확보</a:t>
            </a:r>
            <a:br/>
            <a:r>
              <a:t>AI가 매칭 기회 발굴</a:t>
            </a:r>
            <a:br/>
            <a:r>
              <a:t>설계사가 대면으로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시장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CCCCCC"/>
                </a:solidFill>
                <a:latin typeface="맑은 고딕"/>
              </a:defRPr>
              <a:lnSpc>
                <a:spcPct val="150000"/>
              </a:lnSpc>
            </a:pPr>
            <a:r>
              <a:t>SAM 800~2,900억원</a:t>
            </a:r>
            <a:br/>
            <a:r>
              <a:t>BEP 유료 CEO 17명</a:t>
            </a:r>
            <a:br/>
            <a:r>
              <a:t>Year 1 매출 ~1.6억원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9456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CCCCCC"/>
                </a:solidFill>
                <a:latin typeface="맑은 고딕"/>
              </a:defRPr>
              <a:lnSpc>
                <a:spcPct val="150000"/>
              </a:lnSpc>
            </a:pPr>
            <a:r>
              <a:t>보험영업 8년 + 풀스택 7년</a:t>
            </a:r>
            <a:br/>
            <a:r>
              <a:t>공동창업자: GA 2개 계약</a:t>
            </a:r>
            <a:br/>
            <a:r>
              <a:t>CEO DB 4,000명 보유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Pre-seed 3억원  ·  18개월  ·  GA 5개 + CEO 5,000명 + CEO 과금 가설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Unique Insight — 잠든 자산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16459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  <a:lnSpc>
                <a:spcPct val="150000"/>
              </a:lnSpc>
            </a:pPr>
            <a:r>
              <a:t>전국 GA 소속 설계사 288,000명이 법인영업으로 구축한 CEO 직통 전화번호 + 대면 관계 DB.</a:t>
            </a:r>
            <a:br/>
            <a:r>
              <a:t>GA가 수천만 원을 투자해서 만든 자산인데, 보험 계약이 끝나면 추가 수익 = 0원.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GA가 DB 구매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수천만 원 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38328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520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FC가 법인영업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CEO 대면 관계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8328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520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보험 계약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추가 수익 0원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38328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520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DB 유휴 자산화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가치가 잠듦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1208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5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49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synco는 이 잠든 자산을 깨웁니다. AI가 발굴하고, 사람이 성사시킵니다.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5B8DEF"/>
                </a:solidFill>
                <a:latin typeface="맑은 고딕"/>
              </a:defRPr>
              <a:lnSpc>
                <a:spcPct val="130000"/>
              </a:lnSpc>
            </a:pPr>
            <a:r>
              <a:t>설계사(FC)의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보험 재구매율 ≈ 0%  →  한번 팔면 관계 사장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7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보험 외 줄 게 없어서  →  연락하면 차단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5년간 쌓은 CEO 네트워크  →  보험 판매에만 소진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관리 도구 = 카카오톡 메모 + 엑셀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5B8DEF"/>
                </a:solidFill>
                <a:latin typeface="맑은 고딕"/>
              </a:defRPr>
              <a:lnSpc>
                <a:spcPct val="130000"/>
              </a:lnSpc>
            </a:pPr>
            <a:r>
              <a:t>CEO(중소기업 대표)의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설계사 전화 = 보험 팔려고  →  거부감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7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유휴 설비, 재고, 유통채널  →  활용 채널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비즈니스 인맥 확장  →  100% 지인 소개 + 우연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720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새 사업 기회 탐색  →  체계적 채널 부재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양쪽 모두 가치를 못 얻고 있습니다. FC에겐 관계 유지 명분이 없고, CEO에겐 기회 발견 채널이 없습니다.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Solution — 양면 플랫폼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① 설계사용 무료 AI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카카오톡 + 엑셀 대체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AI가 기업 뉴스 수집 + 미팅 브리핑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GA의 단순 DB → '이 CEO에게 이 화두로 진입하세요' 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무료 제공 = 트로이 목마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② CEO용 비즈니스 매칭 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사업 정보 입력 → AI가 유휴 자원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맞춤 비즈니스 기회 자동 발굴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관심 매칭만 크레딧으로 열람 (부분유료화)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연결 = 이미 아는 설계사가 대면으로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389120"/>
            <a:ext cx="6675120" cy="1371600"/>
          </a:xfrm>
          <a:prstGeom prst="roundRect">
            <a:avLst>
              <a:gd name="adj" fmla="val 5000"/>
            </a:avLst>
          </a:prstGeom>
          <a:solidFill>
            <a:srgbClr val="152E1E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5262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AI가 발굴하고, 사람이 성사시킵니다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0292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콜드 메시지가 아닙니다. 이미 신뢰 관계가 있는 설계사의 웜 채널입니다.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How It Works — 실제 시나리오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5B8DEF"/>
                </a:solidFill>
                <a:latin typeface="맑은 고딕"/>
              </a:defRPr>
              <a:lnSpc>
                <a:spcPct val="130000"/>
              </a:lnSpc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화성 제조업체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50000"/>
              </a:lnSpc>
            </a:pPr>
            <a:r>
              <a:t>매출 85억, 신공장 증설</a:t>
            </a:r>
            <a:br/>
            <a:r>
              <a:t>가동률 60%</a:t>
            </a:r>
            <a:br/>
            <a:r>
              <a:t>40% 유휴 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5B8DEF"/>
                </a:solidFill>
                <a:latin typeface="맑은 고딕"/>
              </a:defRPr>
              <a:lnSpc>
                <a:spcPct val="130000"/>
              </a:lnSpc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수원 소비재 회사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688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50000"/>
              </a:lnSpc>
            </a:pPr>
            <a:r>
              <a:t>매출 50억</a:t>
            </a:r>
            <a:br/>
            <a:r>
              <a:t>위탁생산처 필요</a:t>
            </a:r>
            <a:br/>
            <a:r>
              <a:t>마땅한 곳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같은 설계사의 고객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50000"/>
              </a:lnSpc>
            </a:pPr>
            <a:r>
              <a:t>synco AI가</a:t>
            </a:r>
            <a:br/>
            <a:r>
              <a:t>매칭 기회 발견</a:t>
            </a:r>
            <a:br/>
            <a:r>
              <a:t>'유휴 라인 ↔ 위탁 수요'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설계사가 대면 연결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4688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50000"/>
              </a:lnSpc>
            </a:pPr>
            <a:r>
              <a:t>'김 사장님, 좋은 분</a:t>
            </a:r>
            <a:br/>
            <a:r>
              <a:t>소개해드릴까요?'</a:t>
            </a:r>
            <a:br/>
            <a:r>
              <a:t>→ 수억 원 거래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FFFFFF"/>
                </a:solidFill>
                <a:latin typeface="맑은 고딕"/>
              </a:defRPr>
              <a:lnSpc>
                <a:spcPct val="150000"/>
              </a:lnSpc>
            </a:pPr>
            <a:r>
              <a:t>서로의 존재를 몰랐던 두 CEO를, 이미 신뢰 관계가 있는 설계사가 연결합니다.</a:t>
            </a:r>
            <a:br/>
            <a:r>
              <a:t>이 한 마디가 수억 원의 거래가 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Traction — 검증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2개 GA 계약 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공동창업자가 현업 영업자로서 직접 파트너십 체결. Day 1 실행 가능.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39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231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688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CEO DB 3,000~4,000명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803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공동창업자 본인 DB로 즉시 프로토타입 테스트 가능.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5B8DEF"/>
                </a:solidFill>
                <a:latin typeface="맑은 고딕"/>
              </a:defRPr>
              <a:lnSpc>
                <a:spcPct val="130000"/>
              </a:lnSpc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CEO 대면 반응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77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보험 제안은 거부하지만, 비즈니스 매칭은 긍정적.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5B8DEF"/>
                </a:solidFill>
                <a:latin typeface="맑은 고딕"/>
              </a:defRPr>
              <a:lnSpc>
                <a:spcPct val="130000"/>
              </a:lnSpc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FC 인터뷰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쓸만한 CRM이 없다. 기존 도구(카톡/엑셀)에 불만 크다.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15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벤치마크: BNI 한국 2,300명이 리퍼럴로 연간 수천억 거래 → FC 30만 명이 같은 역할을 하면?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Bottom-up 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6,000억 ~ 4.8조원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737360"/>
            <a:ext cx="3474720" cy="137160"/>
          </a:xfrm>
          <a:prstGeom prst="roundRect">
            <a:avLst>
              <a:gd name="adj" fmla="val 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40000"/>
              </a:lnSpc>
            </a:pPr>
            <a:r>
              <a:t>도달 가능 Unique CEO 50만~100만명</a:t>
            </a:r>
            <a:br/>
            <a:r>
              <a:t>CEO 1인당 연간 120만~480만원 (구독+크레딧+딜 중개)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800억 ~ 2,900억원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383280"/>
            <a:ext cx="2743200" cy="137160"/>
          </a:xfrm>
          <a:prstGeom prst="roundRect">
            <a:avLst>
              <a:gd name="adj" fmla="val 5000"/>
            </a:avLst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40000"/>
              </a:lnSpc>
            </a:pPr>
            <a:r>
              <a:t>법인영업 FC ~10만 명이</a:t>
            </a:r>
            <a:br/>
            <a:r>
              <a:t>접근 가능한 CEO 기반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~1.6억원 (Year 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5029200"/>
            <a:ext cx="2011680" cy="13716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40000"/>
              </a:lnSpc>
            </a:pPr>
            <a:r>
              <a:t>GA 5개 × CEO 20,000명</a:t>
            </a:r>
            <a:br/>
            <a:r>
              <a:t>유료 전환 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778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손익분기점 = 유료 CEO 17명  (월 비용 205만원 ÷ 공헌이익 12.65만원)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Business Model — 3-Layer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5B8DEF"/>
                </a:solidFill>
                <a:latin typeface="맑은 고딕"/>
              </a:defRPr>
              <a:lnSpc>
                <a:spcPct val="130000"/>
              </a:lnSpc>
            </a:pPr>
            <a:r>
              <a:t>Layer 1: 트로이 목마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0~6개월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057400"/>
            <a:ext cx="2926080" cy="254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FC 무료 AI CRM 제공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CEO 무료 CRM(인맥/고객 관리)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양쪽 가입 유도 = 네트워크 구축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Layer 2: 과금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6~18개월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2057400"/>
            <a:ext cx="292608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228600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CEO 구독: 월 9.9만원(Premium) / 39.9만원(Enterprise)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9260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크레딧: 매칭 상세 열람 건당 5,000~25,000원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5661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딜 중개 수수료: 거래액의 3~10% ← 가장 큰 시장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2062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FC 구독: Pro 3.9만원 / Premium 9.9만원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18872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Layer 3: 금융상품 유통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18개월+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2057400"/>
            <a:ext cx="29260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28600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CEO DB 10만명+ = 고자산 고객 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9260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투자자문, 금융상품을 FC가 대면 유통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6616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•  창업자 본업 로보어드바이저 = 첫 번째 상품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핵심: 매칭은 DB를 활성화시키는 도구. 활성화된 DB 위에 무한한 비즈니스가 파생됩니다.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645920" cy="457200"/>
          </a:xfrm>
          <a:prstGeom prst="roundRect">
            <a:avLst>
              <a:gd name="adj" fmla="val 5000"/>
            </a:avLst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2103120" y="118872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216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매칭 방식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18872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216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성사 방식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18872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2161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한계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18872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161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synco 차별화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373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리멤버</a:t>
            </a:r>
            <a:br/>
            <a:r>
              <a:t>500만 회원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169164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1737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AI 추천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169164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737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콜드 메시지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169164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1737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신뢰 부재</a:t>
            </a:r>
            <a:br/>
            <a:r>
              <a:t>대면 없음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69164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7373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FC 웜 채널</a:t>
            </a:r>
            <a:br/>
            <a:r>
              <a:t>신뢰 내재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9748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7432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BNI</a:t>
            </a:r>
            <a:br/>
            <a:r>
              <a:t>2,300명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2697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27432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사람 소개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269748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27432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대면 리퍼럴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269748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2743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확장 불가</a:t>
            </a:r>
            <a:br/>
            <a:r>
              <a:t>주 1회 모임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269748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743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AI 확장성</a:t>
            </a:r>
            <a:br/>
            <a:r>
              <a:t>매일 매칭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70332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74904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링크드인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03120" y="37033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7490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프로필 매칭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31920" y="37033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0" y="37490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콜드 InMail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60720" y="37033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0" y="3749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한국 CEO</a:t>
            </a:r>
            <a:br/>
            <a:r>
              <a:t>사용률 낮음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7033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749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FC 대면</a:t>
            </a:r>
            <a:br/>
            <a:r>
              <a:t>한국 특화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70916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7548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지인 소개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03120" y="470916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4754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우연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31920" y="470916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0" y="4754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우연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470916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0" y="4754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체계 없음</a:t>
            </a:r>
            <a:br/>
            <a:r>
              <a:t>재현 불가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21040" y="470916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12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4754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AI 체계화</a:t>
            </a:r>
            <a:br/>
            <a:r>
              <a:t>데이터 기반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리멤버가 시장을 교육해주고 있지만, 콜드 매칭입니다. synco는 웜 채널입니다. 같은 시장, 다른 접근.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AI CRM 폭발적 성장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40000"/>
              </a:lnSpc>
            </a:pPr>
            <a:r>
              <a:t>글로벌 AI CRM 시장 CAGR 36%</a:t>
            </a:r>
            <a:br/>
            <a:r>
              <a:t>14.9조 → 69.8조원</a:t>
            </a:r>
            <a:br/>
            <a:r>
              <a:t>2025~2027년이 초기→주류 전환 결정적 시기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39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717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5B8DEF"/>
                </a:solidFill>
                <a:latin typeface="맑은 고딕"/>
              </a:defRPr>
              <a:lnSpc>
                <a:spcPct val="130000"/>
              </a:lnSpc>
            </a:pPr>
            <a:r>
              <a:t>GA의 구조적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2899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40000"/>
              </a:lnSpc>
            </a:pPr>
            <a:r>
              <a:t>GA협회 2035년 '금융판매전문회사' 비전 공식 채택</a:t>
            </a:r>
            <a:br/>
            <a:r>
              <a:t>보험 판매 → 종합 금융/비즈니스 연결</a:t>
            </a:r>
            <a:br/>
            <a:r>
              <a:t>synco는 이 비전에 정확히 정렬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리멤버 매칭 시장 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9834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40000"/>
              </a:lnSpc>
            </a:pPr>
            <a:r>
              <a:t>500만 회원의 리멤버가 2026.3 매칭 런칭</a:t>
            </a:r>
            <a:br/>
            <a:r>
              <a:t>시장을 교육해주지만 = 콜드 매칭</a:t>
            </a:r>
            <a:br/>
            <a:r>
              <a:t>synco = 웜 매칭. 같은 시장, 다른 접근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창업자 (CEO &amp; CTO)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▸ 보험영업 8년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FC의 습성과 고충을 체감적으로 이해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▸ 풀스택 개발 7년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투자/자산관리 프로그램 직접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▸ 로보어드바이저 운용 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23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Layer 3의 첫 번째 상품이 이미 존재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▸ 기획 + 개발 1인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800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MVP를 외주 없이 빠르게 구축 가능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공동창업자 (COO &amp; Sales)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▸ 현업 금융 영업자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보험/금융 현장에서 활동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80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▸ 2개 GA 계약 체결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Day 1 파트너십 실행 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▸ CEO DB 3,000~4,000명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023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즉시 프로토타입 테스트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▸ 영업 네트워크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800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추가 GA 확장 파이프라인 보유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8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15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760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이 팀은 돈으로 살 수 없습니다. 8년간 보험 현장을 경험한 사람 + 지금 당장 GA에 가서 계약할 수 있는 사람.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Financial Projections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BEP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유료 CEO 17명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188720"/>
            <a:ext cx="201168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~1.6억원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188720"/>
            <a:ext cx="201168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Year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10~18억원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188720"/>
            <a:ext cx="201168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Year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30~55억원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188720"/>
            <a:ext cx="2011680" cy="137160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Gross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~83%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Year 1 수익 구조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74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CEO 구독 + 크레딧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~1.3억원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81%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9776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FC 구독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77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~2,070만원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77639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13%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480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딜 중개 수수료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80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~670만원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805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983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합계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983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~1.6억원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9834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비용 구조 (Phase별 월 비용)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474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Phase 1 (0~6개월)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474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월 45만원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9776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Phase 2 (6~12개월)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397763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월 185만원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480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Phase 3 (12~18개월)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월 755만원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188720"/>
            <a:ext cx="5760720" cy="109728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Pre-seed 3억원  ·  18개월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Month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MVP 출시 + GA 2개 + FC 100명 + CEO 500명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플랫폼 작동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79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7471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D700"/>
                </a:solidFill>
                <a:latin typeface="맑은 고딕"/>
              </a:defRPr>
              <a:lnSpc>
                <a:spcPct val="130000"/>
              </a:lnSpc>
            </a:pPr>
            <a:r>
              <a:t>Month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4747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GA 5개 + CEO 5,000명 + 첫 유료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747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CEO WTP 가설 검증 (핵심)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Month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GA 20개 + CEO 30,000명 + MRR 1,000만원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성장 모멘텀 확보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Month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CEO 50,000명 + Seed 라운드 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AA0B4"/>
                </a:solidFill>
                <a:latin typeface="맑은 고딕"/>
              </a:defRPr>
              <a:lnSpc>
                <a:spcPct val="130000"/>
              </a:lnSpc>
            </a:pPr>
            <a:r>
              <a:t>스케일링 단계 진입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자금 용도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개발 인프라 + AI API: 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GA 파트너십 + 운영: 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마케팅 + CEO 획득: 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CCCCCC"/>
                </a:solidFill>
                <a:latin typeface="맑은 고딕"/>
              </a:defRPr>
              <a:lnSpc>
                <a:spcPct val="130000"/>
              </a:lnSpc>
            </a:pPr>
            <a:r>
              <a:t>법률/컴플라이언스: 10%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6000" b="1">
                <a:solidFill>
                  <a:srgbClr val="00D4AA"/>
                </a:solidFill>
                <a:latin typeface="맑은 고딕"/>
              </a:defRPr>
              <a:lnSpc>
                <a:spcPct val="130000"/>
              </a:lnSpc>
            </a:pPr>
            <a:r>
              <a:t>synco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FFFFFF"/>
                </a:solidFill>
                <a:latin typeface="맑은 고딕"/>
              </a:defRPr>
              <a:lnSpc>
                <a:spcPct val="160000"/>
              </a:lnSpc>
            </a:pPr>
            <a:r>
              <a:t>AI 시대에 비즈니스 모델은 카피할 수 있습니다.</a:t>
            </a:r>
            <a:br/>
            <a:r>
              <a:t>하지만 8년간 현장에서 체험한 가치관은 카피할 수 없습니다.</a:t>
            </a:r>
            <a:br/>
            <a:r>
              <a:t>사람은 유일한 존재이기 때문입니다.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389120"/>
            <a:ext cx="210312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00D4AA"/>
                </a:solidFill>
                <a:latin typeface="맑은 고딕"/>
              </a:defRPr>
              <a:lnSpc>
                <a:spcPct val="150000"/>
              </a:lnSpc>
            </a:pPr>
            <a:r>
              <a:t>AI가 기회를 발굴하고, 사람이 신뢰로 연결합니다.</a:t>
            </a:r>
            <a:br/>
            <a:r>
              <a:t>이것이 synco의 철학이고, 이 철학이 곧 해자입니다.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FFFFF"/>
                </a:solidFill>
                <a:latin typeface="맑은 고딕"/>
              </a:defRPr>
              <a:lnSpc>
                <a:spcPct val="130000"/>
              </a:lnSpc>
            </a:pPr>
            <a: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